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saber si el OPEX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está bajo control?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754880" cy="713232"/>
          </a:xfrm>
          <a:prstGeom prst="rect">
            <a:avLst/>
          </a:prstGeom>
          <a:solidFill>
            <a:srgbClr val="16163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1732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vivían en Metabase — sin análisis automático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4754880" cy="713232"/>
          </a:xfrm>
          <a:prstGeom prst="rect">
            <a:avLst/>
          </a:prstGeom>
          <a:solidFill>
            <a:srgbClr val="16163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4884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2257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240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tomaba días. Las anomalías llegaban tarde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4754880" cy="713232"/>
          </a:xfrm>
          <a:prstGeom prst="rect">
            <a:avLst/>
          </a:prstGeom>
          <a:solidFill>
            <a:srgbClr val="16163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4553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06324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había forma de consultar costos en lenguaje natural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532120" y="228600"/>
            <a:ext cx="3337560" cy="4663440"/>
          </a:xfrm>
          <a:prstGeom prst="rect">
            <a:avLst/>
          </a:prstGeom>
          <a:solidFill>
            <a:srgbClr val="1E1E3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532120" y="4572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🔮</a:t>
            </a:r>
            <a:endParaRPr lang="en-US" sz="5200" dirty="0"/>
          </a:p>
        </p:txBody>
      </p:sp>
      <p:sp>
        <p:nvSpPr>
          <p:cNvPr id="19" name="Text 14"/>
          <p:cNvSpPr/>
          <p:nvPr/>
        </p:nvSpPr>
        <p:spPr>
          <a:xfrm>
            <a:off x="562356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ORÁCULO DEL OPEX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897880" y="1874520"/>
            <a:ext cx="26060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69280" y="1965960"/>
            <a:ext cx="3063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que monitorea costos OPEX en tiempo real, detecta anomalías y responde desde Slack en lenguaje natural.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806440" y="349300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26480" y="3474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en tiempo real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806440" y="38862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26480" y="3867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en Slack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806440" y="42793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26480" y="4261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del equipo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 Energy  ·  Equipo 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Funciona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piezas, una sola magia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3429000"/>
          </a:xfrm>
          <a:prstGeom prst="rect">
            <a:avLst/>
          </a:prstGeom>
          <a:solidFill>
            <a:srgbClr val="16163A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65960" cy="6400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170432"/>
            <a:ext cx="621792" cy="621792"/>
          </a:xfrm>
          <a:prstGeom prst="ellipse">
            <a:avLst/>
          </a:prstGeom>
          <a:solidFill>
            <a:srgbClr val="A5B4FC">
              <a:alpha val="20000"/>
            </a:srgbClr>
          </a:solidFill>
          <a:ln w="12700">
            <a:solidFill>
              <a:srgbClr val="A5B4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2527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38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Metabase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0352" y="2587752"/>
            <a:ext cx="146304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670048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OPEX, fronteras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transacciones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42702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de datos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14600" y="1005840"/>
            <a:ext cx="1965960" cy="3429000"/>
          </a:xfrm>
          <a:prstGeom prst="rect">
            <a:avLst/>
          </a:prstGeom>
          <a:solidFill>
            <a:srgbClr val="16163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1005840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82112" y="1170432"/>
            <a:ext cx="621792" cy="621792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5272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06040" y="1938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60604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770632" y="2587752"/>
            <a:ext cx="146304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24328" y="2670048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tarifarios,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alertas, historial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preferencias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560320" y="42702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WF-A1: Ingesta horaria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54880" y="1005840"/>
            <a:ext cx="1965960" cy="3429000"/>
          </a:xfrm>
          <a:prstGeom prst="rect">
            <a:avLst/>
          </a:prstGeom>
          <a:solidFill>
            <a:srgbClr val="1616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54880" y="1005840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422392" y="1170432"/>
            <a:ext cx="621792" cy="62179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252728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46320" y="1938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AI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484632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Cerebro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10912" y="2587752"/>
            <a:ext cx="146304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64608" y="2670048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Razona, analiza y genera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natural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800600" y="42702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WF-B: Agente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995160" y="1005840"/>
            <a:ext cx="1965960" cy="3429000"/>
          </a:xfrm>
          <a:prstGeom prst="rect">
            <a:avLst/>
          </a:prstGeom>
          <a:solidFill>
            <a:srgbClr val="1616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95160" y="1005840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662672" y="1170432"/>
            <a:ext cx="621792" cy="62179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252728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86600" y="1938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Slack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08660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7251192" y="2587752"/>
            <a:ext cx="146304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104888" y="2670048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preguntas,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respuestas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gestiona feedback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040880" y="42702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WF-C: Receptor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2286000" y="2724912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2633472"/>
            <a:ext cx="182880" cy="18288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4526280" y="2724912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2633472"/>
            <a:ext cx="182880" cy="18288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6766560" y="2724912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008" y="2633472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 Energy  ·  Equipo 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puede responder hoy?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reales desde Slack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777240"/>
          </a:xfrm>
          <a:prstGeom prst="rect">
            <a:avLst/>
          </a:prstGeom>
          <a:solidFill>
            <a:srgbClr val="1E1E3F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61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15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gastamos en OPEX la semana pasada en la zona Costa?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20640" y="12070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26187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965960"/>
            <a:ext cx="5029200" cy="777240"/>
          </a:xfrm>
          <a:prstGeom prst="rect">
            <a:avLst/>
          </a:prstGeom>
          <a:solidFill>
            <a:srgbClr val="1E1E3F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075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anomalías en los costos de instalación con AFINIA?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120640" y="21671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221992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65760" y="2926080"/>
            <a:ext cx="5029200" cy="777240"/>
          </a:xfrm>
          <a:prstGeom prst="rect">
            <a:avLst/>
          </a:prstGeom>
          <a:solidFill>
            <a:srgbClr val="1E1E3F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36392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035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el forecast de cierre de este mes?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120640" y="31272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3182112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65760" y="3886200"/>
            <a:ext cx="5029200" cy="777240"/>
          </a:xfrm>
          <a:prstGeom prst="rect">
            <a:avLst/>
          </a:prstGeom>
          <a:solidFill>
            <a:srgbClr val="1E1E3F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96512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5840" y="39959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debería costar una visita previa con GMAS en Bogotá?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120640" y="40873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648" y="4142232"/>
            <a:ext cx="256032" cy="25603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5669280" y="960120"/>
            <a:ext cx="3200400" cy="3931920"/>
          </a:xfrm>
          <a:prstGeom prst="rect">
            <a:avLst/>
          </a:prstGeom>
          <a:solidFill>
            <a:srgbClr val="1616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5669280" y="960120"/>
            <a:ext cx="32004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687568" y="10241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28" name="Text 18"/>
          <p:cNvSpPr/>
          <p:nvPr/>
        </p:nvSpPr>
        <p:spPr>
          <a:xfrm>
            <a:off x="6236208" y="1078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Oráculo del OPEX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5760720" y="1444752"/>
            <a:ext cx="301752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760720" y="1536192"/>
            <a:ext cx="301752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Zona Costa — Sem. 21-27 abr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AFINIA:      </a:t>
            </a:r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$142.3M
</a:t>
            </a:r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CARIBE MAR:  </a:t>
            </a:r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$98.7M
</a:t>
            </a:r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AIRE:        </a:t>
            </a:r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$61.2M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Costa: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$302.2M COP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Desvío +8.3% vs forecast
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Revisar AFINIA instalación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 Energy  ·  Equipo 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Aprende y Mejora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oráculo que escucha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627632"/>
          </a:xfrm>
          <a:prstGeom prst="rect">
            <a:avLst/>
          </a:prstGeom>
          <a:solidFill>
            <a:srgbClr val="16163A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36192"/>
            <a:ext cx="594360" cy="59436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1848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Memoria Larga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53312" y="17099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 las últimas 5 conversaciones y las usa como contexto. Cada sesión enriquece la siguiente.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60520" cy="1627632"/>
          </a:xfrm>
          <a:prstGeom prst="rect">
            <a:avLst/>
          </a:prstGeom>
          <a:solidFill>
            <a:srgbClr val="16163A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64008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56048" y="1536192"/>
            <a:ext cx="594360" cy="59436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618488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42432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42432" y="17099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refuerza lo que funciona. 👎 obliga a explicar qué falló. El agente ajusta con cada ciclo.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160520" cy="1627632"/>
          </a:xfrm>
          <a:prstGeom prst="rect">
            <a:avLst/>
          </a:prstGeom>
          <a:solidFill>
            <a:srgbClr val="16163A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880360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6928" y="3364992"/>
            <a:ext cx="594360" cy="59436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447288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53312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Preferencias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353312" y="35387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concisa, balanceada o detallada — adaptable por usuario, no por config global.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54880" y="2880360"/>
            <a:ext cx="4160520" cy="1627632"/>
          </a:xfrm>
          <a:prstGeom prst="rect">
            <a:avLst/>
          </a:prstGeom>
          <a:solidFill>
            <a:srgbClr val="16163A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880360"/>
            <a:ext cx="64008" cy="16276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56048" y="3364992"/>
            <a:ext cx="594360" cy="59436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47288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42432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Recalibración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742432" y="35387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respuestas con más 👍 alimentan las reglas del agente. El sistema mejora con el uso real.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 Energy  ·  Equipo 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viene después?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1078992"/>
            <a:ext cx="0" cy="352044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07008" y="123444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005840"/>
            <a:ext cx="7269480" cy="804672"/>
          </a:xfrm>
          <a:prstGeom prst="rect">
            <a:avLst/>
          </a:prstGeom>
          <a:solidFill>
            <a:srgbClr val="16163A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00200" y="1005840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2344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402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Reportes Automáticos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40280" y="142646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semanal y mensual de OPEX enviado a Slack automáticamente. Top desvíos y tendencias incluidas.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0" y="2203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207008" y="217627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00200" y="1947672"/>
            <a:ext cx="7269480" cy="804672"/>
          </a:xfrm>
          <a:prstGeom prst="rect">
            <a:avLst/>
          </a:prstGeom>
          <a:solidFill>
            <a:srgbClr val="16163A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600200" y="1947672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17627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40280" y="2039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Metabase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240280" y="236829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en tiempo real de métricas del agente: alertas, forecasts y desvíos por zona y contratista.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0" y="31455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207008" y="311810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600200" y="2889504"/>
            <a:ext cx="7269480" cy="804672"/>
          </a:xfrm>
          <a:prstGeom prst="rect">
            <a:avLst/>
          </a:prstGeom>
          <a:solidFill>
            <a:srgbClr val="16163A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600200" y="2889504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118104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240280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Alertas Proactivas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2240280" y="33101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Notificación automática al detectar desvío presupuestal crítico — sin esperar a que alguien pregunte.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0" y="4087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207008" y="405993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600200" y="3831336"/>
            <a:ext cx="7269480" cy="804672"/>
          </a:xfrm>
          <a:prstGeom prst="rect">
            <a:avLst/>
          </a:prstGeom>
          <a:solidFill>
            <a:srgbClr val="16163A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600200" y="3831336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059936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240280" y="3922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Teórico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2240280" y="42519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automático del presupuesto mensual desde el backlog de fronteras. Sin intervención manual de Finanzas.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 Energy  ·  Equipo IA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Oráculo del OPEX</dc:title>
  <dc:subject>PptxGenJS Presentation</dc:subject>
  <dc:creator>BIA Energy</dc:creator>
  <cp:lastModifiedBy>BIA Energy</cp:lastModifiedBy>
  <cp:revision>1</cp:revision>
  <dcterms:created xsi:type="dcterms:W3CDTF">2026-04-30T04:47:27Z</dcterms:created>
  <dcterms:modified xsi:type="dcterms:W3CDTF">2026-04-30T04:47:27Z</dcterms:modified>
</cp:coreProperties>
</file>